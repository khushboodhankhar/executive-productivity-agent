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8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8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8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88.png"/><Relationship Id="rId21" Type="http://schemas.openxmlformats.org/officeDocument/2006/relationships/image" Target="../media/image89.png"/><Relationship Id="rId22" Type="http://schemas.openxmlformats.org/officeDocument/2006/relationships/image" Target="../media/image8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8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116.png"/><Relationship Id="rId12" Type="http://schemas.openxmlformats.org/officeDocument/2006/relationships/image" Target="../media/image117.png"/><Relationship Id="rId13" Type="http://schemas.openxmlformats.org/officeDocument/2006/relationships/image" Target="../media/image1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8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Relationship Id="rId17" Type="http://schemas.openxmlformats.org/officeDocument/2006/relationships/image" Target="../media/image132.png"/><Relationship Id="rId18" Type="http://schemas.openxmlformats.org/officeDocument/2006/relationships/image" Target="../media/image133.png"/><Relationship Id="rId19" Type="http://schemas.openxmlformats.org/officeDocument/2006/relationships/image" Target="../media/image134.png"/><Relationship Id="rId20" Type="http://schemas.openxmlformats.org/officeDocument/2006/relationships/image" Target="../media/image135.png"/><Relationship Id="rId21" Type="http://schemas.openxmlformats.org/officeDocument/2006/relationships/image" Target="../media/image136.png"/><Relationship Id="rId22" Type="http://schemas.openxmlformats.org/officeDocument/2006/relationships/image" Target="../media/image137.png"/><Relationship Id="rId23" Type="http://schemas.openxmlformats.org/officeDocument/2006/relationships/image" Target="../media/image138.png"/><Relationship Id="rId24" Type="http://schemas.openxmlformats.org/officeDocument/2006/relationships/image" Target="../media/image1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8.png"/><Relationship Id="rId18" Type="http://schemas.openxmlformats.org/officeDocument/2006/relationships/image" Target="../media/image154.png"/><Relationship Id="rId19" Type="http://schemas.openxmlformats.org/officeDocument/2006/relationships/image" Target="../media/image155.png"/><Relationship Id="rId20" Type="http://schemas.openxmlformats.org/officeDocument/2006/relationships/image" Target="../media/image156.png"/><Relationship Id="rId21" Type="http://schemas.openxmlformats.org/officeDocument/2006/relationships/image" Target="../media/image157.png"/><Relationship Id="rId22" Type="http://schemas.openxmlformats.org/officeDocument/2006/relationships/image" Target="../media/image158.png"/><Relationship Id="rId23" Type="http://schemas.openxmlformats.org/officeDocument/2006/relationships/image" Target="../media/image15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167.png"/><Relationship Id="rId11" Type="http://schemas.openxmlformats.org/officeDocument/2006/relationships/image" Target="../media/image168.png"/><Relationship Id="rId12" Type="http://schemas.openxmlformats.org/officeDocument/2006/relationships/image" Target="../media/image169.png"/><Relationship Id="rId13" Type="http://schemas.openxmlformats.org/officeDocument/2006/relationships/image" Target="../media/image8.png"/><Relationship Id="rId14" Type="http://schemas.openxmlformats.org/officeDocument/2006/relationships/image" Target="../media/image170.png"/><Relationship Id="rId15" Type="http://schemas.openxmlformats.org/officeDocument/2006/relationships/image" Target="../media/image171.png"/><Relationship Id="rId16" Type="http://schemas.openxmlformats.org/officeDocument/2006/relationships/image" Target="../media/image172.png"/><Relationship Id="rId17" Type="http://schemas.openxmlformats.org/officeDocument/2006/relationships/image" Target="../media/image173.png"/><Relationship Id="rId18" Type="http://schemas.openxmlformats.org/officeDocument/2006/relationships/image" Target="../media/image17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23094"/>
            <a:ext cx="2257425" cy="219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506217"/>
            <a:ext cx="5429250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190750"/>
            <a:ext cx="542925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962275"/>
            <a:ext cx="4953000" cy="619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3695700"/>
            <a:ext cx="2428875" cy="542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695700"/>
            <a:ext cx="2428875" cy="542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372225"/>
            <a:ext cx="3200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Academic Evaluation Deck — Executive Productivity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77575" y="6372225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1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1794569"/>
            <a:ext cx="5700712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0" sz="3450" i="0" u="none">
                <a:solidFill>
                  <a:srgbClr val="0F172A"/>
                </a:solidFill>
                <a:latin typeface="Plus Jakarta Sans ExtraBold"/>
              </a:rPr>
              <a:t>Executive Productivity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50" y="2872680"/>
            <a:ext cx="542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8B5CF6"/>
                </a:solidFill>
                <a:latin typeface="Inter SemiBold"/>
              </a:rPr>
              <a:t>AI-Powered Assistant for Executive Commitments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3253680"/>
            <a:ext cx="54292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“From scattered information to clear action”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" y="3658492"/>
            <a:ext cx="5429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TECHNOLOGY STACK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3991867"/>
            <a:ext cx="78105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3991867"/>
            <a:ext cx="657225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6925" y="3991867"/>
            <a:ext cx="140970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2825" y="3991867"/>
            <a:ext cx="8382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7225" y="3991867"/>
            <a:ext cx="1171575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9800" y="4811017"/>
            <a:ext cx="104775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67175" y="4811017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" y="4077592"/>
            <a:ext cx="12382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6375" y="4077592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9800" y="4077592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95700" y="4077592"/>
            <a:ext cx="12382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0100" y="4077592"/>
            <a:ext cx="1238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00150" y="4725292"/>
            <a:ext cx="171450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8175" y="4944367"/>
            <a:ext cx="1295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Inter"/>
              </a:rPr>
              <a:t>Emails / Meetings / Voice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81337" y="4734817"/>
            <a:ext cx="21907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05100" y="4934842"/>
            <a:ext cx="971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B21A8"/>
                </a:solidFill>
                <a:latin typeface="Inter ExtraBold"/>
              </a:rPr>
              <a:t>Productivity Agent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10150" y="4725292"/>
            <a:ext cx="17145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48175" y="4944367"/>
            <a:ext cx="1295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334155"/>
                </a:solidFill>
                <a:latin typeface="Inter"/>
              </a:rPr>
              <a:t>Executive Brief &amp;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2466975"/>
            <a:ext cx="22288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A5B4FC"/>
                </a:solidFill>
                <a:latin typeface="Inter SemiBold"/>
              </a:rPr>
              <a:t>Executive Dashboard Preview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44150" y="2428875"/>
            <a:ext cx="1133475" cy="2190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57975" y="3095625"/>
            <a:ext cx="4686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A5B4FC"/>
                </a:solidFill>
                <a:latin typeface="Inter"/>
              </a:rPr>
              <a:t>CURRENT EXECUTIVE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7975" y="3248025"/>
            <a:ext cx="4686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 ExtraBold"/>
              </a:rPr>
              <a:t>Arjun Malhotra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8925" y="3810000"/>
            <a:ext cx="22002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A5B4FC"/>
                </a:solidFill>
                <a:latin typeface="Inter"/>
              </a:rPr>
              <a:t>UNRESOLVED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925" y="3962400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FFFFF"/>
                </a:solidFill>
                <a:latin typeface="Inter SemiBold"/>
              </a:rPr>
              <a:t>Vendor list to Raghav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2575" y="3819525"/>
            <a:ext cx="21812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FCA5A5"/>
                </a:solidFill>
                <a:latin typeface="Inter"/>
              </a:rPr>
              <a:t>OVERDUE TASK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2575" y="3971925"/>
            <a:ext cx="2181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ECACA"/>
                </a:solidFill>
                <a:latin typeface="Inter SemiBold"/>
              </a:rPr>
              <a:t>Reschedule Meridian 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5505450" cy="521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028700"/>
            <a:ext cx="5505450" cy="5219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5219700"/>
            <a:ext cx="5105400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5514975"/>
            <a:ext cx="5105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262062"/>
            <a:ext cx="11715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262062"/>
            <a:ext cx="12763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58525" y="637222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2 of 10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19100"/>
            <a:ext cx="2476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371475"/>
            <a:ext cx="4314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Problem Statement &amp;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1595437"/>
            <a:ext cx="536067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Fragmented Information 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1928812"/>
            <a:ext cx="510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Executives receive critical commitments across disparate channels: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5334000"/>
            <a:ext cx="4848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F1239"/>
                </a:solidFill>
                <a:latin typeface="Inter"/>
              </a:rPr>
              <a:t>KEY 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5505450"/>
            <a:ext cx="48482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81337"/>
                </a:solidFill>
                <a:latin typeface="Inter"/>
              </a:rPr>
              <a:t>• Scattered commitments &amp; missed follow-ups</a:t>
            </a:r>
            <a:r>
              <a:t>
</a:t>
            </a:r>
            <a:r>
              <a:rPr b="0" sz="900" i="0" u="none">
                <a:solidFill>
                  <a:srgbClr val="881337"/>
                </a:solidFill>
                <a:latin typeface="Inter"/>
              </a:rPr>
              <a:t> • Unclear task ownership &amp; overdue deadlines</a:t>
            </a:r>
            <a:r>
              <a:t>
</a:t>
            </a:r>
            <a:r>
              <a:rPr b="0" sz="900" i="0" u="none">
                <a:solidFill>
                  <a:srgbClr val="881337"/>
                </a:solidFill>
                <a:latin typeface="Inter"/>
              </a:rPr>
              <a:t> • Hours spent manually consolidating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1595437"/>
            <a:ext cx="536067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Plus Jakarta Sans"/>
              </a:rPr>
              <a:t>Automated Executive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1928812"/>
            <a:ext cx="5105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Build an AI assistant to streamline unstructured data into actionable intelligence: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5629275"/>
            <a:ext cx="48482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65F46"/>
                </a:solidFill>
                <a:latin typeface="Inter"/>
              </a:rPr>
              <a:t>PRIMARY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5781675"/>
            <a:ext cx="4848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Inter"/>
              </a:rPr>
              <a:t>“Help executives stay informed, focused, and in control.”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1314450"/>
            <a:ext cx="11430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925" y="22145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High-volume Emails &amp; Threads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24431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Meeting Action Items &amp; Notes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26717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Unstructured Voice Notes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5575" y="1314450"/>
            <a:ext cx="114300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57975" y="22145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Extract commitments automatically via Local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7975" y="24431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Resolve context across email threads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7975" y="26717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Identify explicit ownership &amp;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7975" y="2900362"/>
            <a:ext cx="4857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"/>
              </a:rPr>
              <a:t>Answer natural language executive queries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2224087"/>
            <a:ext cx="12382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2452687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2681287"/>
            <a:ext cx="952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2224087"/>
            <a:ext cx="15240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0325" y="2452687"/>
            <a:ext cx="1428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0325" y="2681287"/>
            <a:ext cx="1524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325" y="2909887"/>
            <a:ext cx="1524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11239500" cy="97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190750"/>
            <a:ext cx="2695575" cy="405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225" y="2190750"/>
            <a:ext cx="2695575" cy="405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190750"/>
            <a:ext cx="2695575" cy="405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2190750"/>
            <a:ext cx="2695575" cy="405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37222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3 of 10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19100"/>
            <a:ext cx="2762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6775" y="371475"/>
            <a:ext cx="2552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Solution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1190625"/>
            <a:ext cx="10915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ExtraBold"/>
              </a:rPr>
              <a:t>END-TO-END SYSTEM PIPELINE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9337" y="1543050"/>
            <a:ext cx="1047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1475" y="1543050"/>
            <a:ext cx="1047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3612" y="1543050"/>
            <a:ext cx="1047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0" y="1543050"/>
            <a:ext cx="1047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67887" y="1543050"/>
            <a:ext cx="10477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275" y="2419350"/>
            <a:ext cx="2295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21A8"/>
                </a:solidFill>
                <a:latin typeface="Inter ExtraBold"/>
              </a:rPr>
              <a:t>1. Extraction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2638425"/>
            <a:ext cx="22955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Extracts structured commitments, owner identities, counterparty, deadlines, status, and source context using Qwen2.5:3b.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4250" y="2419350"/>
            <a:ext cx="2295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40AF"/>
                </a:solidFill>
                <a:latin typeface="Inter ExtraBold"/>
              </a:rPr>
              <a:t>2. Thread Resolver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4250" y="2638425"/>
            <a:ext cx="229552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Connects related email messages into single threads to accurately determine the active state of commitments.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2419350"/>
            <a:ext cx="2295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65F46"/>
                </a:solidFill>
                <a:latin typeface="Inter ExtraBold"/>
              </a:rPr>
              <a:t>3. Brief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2638425"/>
            <a:ext cx="22955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Organizes tasks into 5 actionable executive views: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3034605"/>
            <a:ext cx="22955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47857"/>
                </a:solidFill>
                <a:latin typeface="Inter"/>
              </a:rPr>
              <a:t>• My Actions   • Waiting on Others</a:t>
            </a:r>
            <a:r>
              <a:t>
</a:t>
            </a:r>
            <a:r>
              <a:rPr b="1" sz="750" i="0" u="none">
                <a:solidFill>
                  <a:srgbClr val="047857"/>
                </a:solidFill>
                <a:latin typeface="Inter"/>
              </a:rPr>
              <a:t> • Unclear Ownership   • Overdue</a:t>
            </a:r>
            <a:r>
              <a:t>
</a:t>
            </a:r>
            <a:r>
              <a:rPr b="1" sz="750" i="0" u="none">
                <a:solidFill>
                  <a:srgbClr val="047857"/>
                </a:solidFill>
                <a:latin typeface="Inter"/>
              </a:rPr>
              <a:t> • 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2419350"/>
            <a:ext cx="22955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F1239"/>
                </a:solidFill>
                <a:latin typeface="Inter ExtraBold"/>
              </a:rPr>
              <a:t>4. Query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0" y="2638425"/>
            <a:ext cx="229552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Handles natural-language questions via `/ask` endpoint: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0200" y="3015555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1" u="none">
                <a:solidFill>
                  <a:srgbClr val="BE123C"/>
                </a:solidFill>
                <a:latin typeface="Inter"/>
              </a:rPr>
              <a:t> “What did I promise Raghav?”</a:t>
            </a:r>
            <a:r>
              <a:t>
</a:t>
            </a:r>
            <a:r>
              <a:rPr b="0" sz="750" i="1" u="none">
                <a:solidFill>
                  <a:srgbClr val="BE123C"/>
                </a:solidFill>
                <a:latin typeface="Inter"/>
              </a:rPr>
              <a:t> “What tasks are overdue?”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8268" y="1514475"/>
            <a:ext cx="104775" cy="1047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0406" y="1514475"/>
            <a:ext cx="104775" cy="1047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2543" y="1514475"/>
            <a:ext cx="104775" cy="1047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60393" y="1514475"/>
            <a:ext cx="133350" cy="1047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1106" y="1514475"/>
            <a:ext cx="76200" cy="1047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94193" y="1514475"/>
            <a:ext cx="114300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5505450" cy="521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028700"/>
            <a:ext cx="5505450" cy="5219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5762625"/>
            <a:ext cx="510540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5591175"/>
            <a:ext cx="51054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262062"/>
            <a:ext cx="22288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262062"/>
            <a:ext cx="25622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37222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4 of 10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19100"/>
            <a:ext cx="2190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371475"/>
            <a:ext cx="4362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Inputs, Sources &amp; Assumptions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1314450"/>
            <a:ext cx="8572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5575" y="1314450"/>
            <a:ext cx="85725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91300" y="1614487"/>
            <a:ext cx="4924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Inter"/>
              </a:rPr>
              <a:t>Data Availability: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Structured JSON input sources are made accessible to the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1833562"/>
            <a:ext cx="4924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Inter"/>
              </a:rPr>
              <a:t>Owner Identification: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Commitments contain contextual signals to identify the responsible party.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2195512"/>
            <a:ext cx="4924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Inter"/>
              </a:rPr>
              <a:t>Deadline Context: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Deadlines are either explicitly stated or contextually inferred.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300" y="2414587"/>
            <a:ext cx="4924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Inter"/>
              </a:rPr>
              <a:t>Thread Continuity: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Email messages with matching subjects belong to the same thread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1300" y="2776537"/>
            <a:ext cx="49244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Inter"/>
              </a:rPr>
              <a:t>Latest Context Wins:</a:t>
            </a:r>
            <a:r>
              <a:rPr b="0" sz="900" i="0" u="none">
                <a:solidFill>
                  <a:srgbClr val="334155"/>
                </a:solidFill>
                <a:latin typeface="Inter"/>
              </a:rPr>
              <a:t> The latest relevant message in a thread represents current commitment state.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" y="1766887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150" y="2376487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150" y="2986087"/>
            <a:ext cx="142875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3950" y="1719262"/>
            <a:ext cx="2819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Emails (</a:t>
            </a:r>
            <a:r>
              <a:rPr b="1" sz="975" i="0" u="none">
                <a:solidFill>
                  <a:srgbClr val="2563EB"/>
                </a:solidFill>
                <a:latin typeface="Inter"/>
              </a:rPr>
              <a:t>emails.json</a:t>
            </a:r>
            <a:r>
              <a:rPr b="1" sz="975" i="0" u="none">
                <a:solidFill>
                  <a:srgbClr val="1E293B"/>
                </a:solidFill>
                <a:latin typeface="Inter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3950" y="1871662"/>
            <a:ext cx="2819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Meeting-related and commitment-bearing email threads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" y="2328862"/>
            <a:ext cx="2733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Meetings (</a:t>
            </a:r>
            <a:r>
              <a:rPr b="1" sz="975" i="0" u="none">
                <a:solidFill>
                  <a:srgbClr val="7C3AED"/>
                </a:solidFill>
                <a:latin typeface="Inter"/>
              </a:rPr>
              <a:t>meetings.json</a:t>
            </a:r>
            <a:r>
              <a:rPr b="1" sz="975" i="0" u="none">
                <a:solidFill>
                  <a:srgbClr val="1E293B"/>
                </a:solidFill>
                <a:latin typeface="Inter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" y="2481262"/>
            <a:ext cx="27336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Meeting transcripts, topics, and captured action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6325" y="2938462"/>
            <a:ext cx="25812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Voice Notes (</a:t>
            </a:r>
            <a:r>
              <a:rPr b="1" sz="975" i="0" u="none">
                <a:solidFill>
                  <a:srgbClr val="DB2777"/>
                </a:solidFill>
                <a:latin typeface="Inter"/>
              </a:rPr>
              <a:t>voice_notes.json</a:t>
            </a:r>
            <a:r>
              <a:rPr b="1" sz="975" i="0" u="none">
                <a:solidFill>
                  <a:srgbClr val="1E293B"/>
                </a:solidFill>
                <a:latin typeface="Inter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" y="3090862"/>
            <a:ext cx="2581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Text/content recorded from executive voice memos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1628775"/>
            <a:ext cx="104775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1847850"/>
            <a:ext cx="104775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2209800"/>
            <a:ext cx="104775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2428875"/>
            <a:ext cx="104775" cy="1238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0325" y="2790825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11239500" cy="752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98526"/>
            <a:ext cx="11239500" cy="819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035028"/>
            <a:ext cx="11239500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5447704"/>
            <a:ext cx="112395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362075"/>
            <a:ext cx="3527375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6525" y="1362075"/>
            <a:ext cx="3527375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8200" y="1362075"/>
            <a:ext cx="3527524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2889051"/>
            <a:ext cx="2631281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1381" y="2889051"/>
            <a:ext cx="2631281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7912" y="2889051"/>
            <a:ext cx="2631281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4443" y="2889051"/>
            <a:ext cx="2631281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4368403"/>
            <a:ext cx="3527375" cy="238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6525" y="4368403"/>
            <a:ext cx="3527375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8200" y="4368403"/>
            <a:ext cx="3527524" cy="238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4850" y="5781079"/>
            <a:ext cx="210115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2205" y="5781079"/>
            <a:ext cx="210115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9560" y="5781079"/>
            <a:ext cx="2101304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7065" y="5781079"/>
            <a:ext cx="210115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14420" y="5781079"/>
            <a:ext cx="2101304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58525" y="637222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5 of 10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250" y="419100"/>
            <a:ext cx="276225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6775" y="371475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Complete System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1152525"/>
            <a:ext cx="10810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1D4ED8"/>
                </a:solidFill>
                <a:latin typeface="Inter ExtraBold"/>
              </a:rPr>
              <a:t>1. INPUT LAYER (DATA SOURCES)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43612" y="2135088"/>
            <a:ext cx="104775" cy="133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4850" y="2622351"/>
            <a:ext cx="10810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B21A8"/>
                </a:solidFill>
                <a:latin typeface="Inter ExtraBold"/>
              </a:rPr>
              <a:t>2. AI AGENTS LAYER (PYTHON LOGIC + LOCAL LLM RUNTIME)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43612" y="3671589"/>
            <a:ext cx="104775" cy="13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4850" y="4158853"/>
            <a:ext cx="10810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47857"/>
                </a:solidFill>
                <a:latin typeface="Inter ExtraBold"/>
              </a:rPr>
              <a:t>3. BACKEND API LAYER (PYTHON FASTAPI)</a:t>
            </a:r>
            <a:r>
              <a:rPr b="0" sz="825" i="0" u="none">
                <a:solidFill>
                  <a:srgbClr val="047857"/>
                </a:solidFill>
                <a:latin typeface="Inter ExtraBold"/>
              </a:rPr>
              <a:t> </a:t>
            </a:r>
            <a:r>
              <a:rPr b="0" sz="825" i="0" u="none">
                <a:solidFill>
                  <a:srgbClr val="065F46"/>
                </a:solidFill>
                <a:latin typeface="Inter ExtraBold"/>
              </a:rPr>
              <a:t>REST API SERVICE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43612" y="5084266"/>
            <a:ext cx="104775" cy="1333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4850" y="5571529"/>
            <a:ext cx="108108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BE123C"/>
                </a:solidFill>
                <a:latin typeface="Inter ExtraBold"/>
              </a:rPr>
              <a:t>4. FRONTEND PRESENTATION LAYER (REACT + VITE + TAILWIND CSS)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24987" y="2622351"/>
            <a:ext cx="2090737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14600"/>
            <a:ext cx="11239500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219200"/>
            <a:ext cx="1524000" cy="110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1219200"/>
            <a:ext cx="152400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219200"/>
            <a:ext cx="1524000" cy="1104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219200"/>
            <a:ext cx="1524000" cy="1104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0" y="1219200"/>
            <a:ext cx="1524000" cy="1104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219200"/>
            <a:ext cx="1524000" cy="1104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0" y="1219200"/>
            <a:ext cx="1524000" cy="1104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37222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6 of 10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19100"/>
            <a:ext cx="2476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200" y="371475"/>
            <a:ext cx="35337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End-to-End Process Flow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1275" y="2743200"/>
            <a:ext cx="137160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Reads emails, meetings, &amp; voice JSON files.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027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Qwen2.5 parses task, owner, deadline &amp;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952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Groups related emails &amp; isolates latest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877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Categorizes into My Actions, Overdue, Waiting, etc.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Outputs structured executive brief dataset.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27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"/>
              </a:rPr>
              <a:t>Exposes /brief &amp; /ask REST endpoints.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525" y="1733550"/>
            <a:ext cx="1314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B21A8"/>
                </a:solidFill>
                <a:latin typeface="Inter"/>
              </a:rPr>
              <a:t>Displays dashboard, calendar &amp; Ask Agent UI.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2657475"/>
            <a:ext cx="409575" cy="3905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102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Data Ingestion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5387" y="2057400"/>
            <a:ext cx="85725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0027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027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Commitment Extraction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4637" y="2057400"/>
            <a:ext cx="8572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1952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952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Thread Resolution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3887" y="2057400"/>
            <a:ext cx="85725" cy="1143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3877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877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Task Classification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3137" y="2057400"/>
            <a:ext cx="85725" cy="1143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5802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802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Brief Generation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72387" y="2057400"/>
            <a:ext cx="85725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7727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8B5CF6"/>
                </a:solidFill>
                <a:latin typeface="Inter ExtraBold"/>
              </a:rPr>
              <a:t>STEP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727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FastAPI Endpoint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1637" y="2057400"/>
            <a:ext cx="85725" cy="114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96525" y="1362075"/>
            <a:ext cx="13144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7E22CE"/>
                </a:solidFill>
                <a:latin typeface="Inter ExtraBold"/>
              </a:rPr>
              <a:t>STEP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96525" y="1514475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581C87"/>
                </a:solidFill>
                <a:latin typeface="Inter"/>
              </a:rPr>
              <a:t>React Dashboard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96600" y="2057400"/>
            <a:ext cx="114300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375" y="2752725"/>
            <a:ext cx="219075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43000" y="2705100"/>
            <a:ext cx="4219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Core Automation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2857500"/>
            <a:ext cx="421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“AI transforms unstructured communication into structured executive actions.”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575" y="423862"/>
            <a:ext cx="638175" cy="238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6250" y="1028700"/>
            <a:ext cx="11239500" cy="3143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1028700"/>
          <a:ext cx="11220449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05112"/>
                <a:gridCol w="2805112"/>
                <a:gridCol w="5610225"/>
              </a:tblGrid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Tool / Technology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System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Implementation Details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Ollama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Local LLM Runtime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Runs the language model locally on host machine without external cloud dependencies.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Qwen2.5:3b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Language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Extracts structured commitments and performs natural-language context reasoning.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Python Agents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AI Orchestration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Implements extraction logic, thread resolution algorithm, brief generator, &amp; query handler.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FastAPI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Backend API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Serves REST endpoints (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/brief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, 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/brief/refresh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, 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/ask</a:t>
                      </a:r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). </a:t>
                      </a:r>
                      <a:r>
                        <a:rPr b="0" sz="975" i="1" u="none">
                          <a:solidFill>
                            <a:srgbClr val="1E293B"/>
                          </a:solidFill>
                          <a:latin typeface="Inter"/>
                        </a:rPr>
                        <a:t>(Not an AI model)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3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React + Vite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Frontend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Provides interactive dashboard, task views, and Ask Agent chat. </a:t>
                      </a:r>
                      <a:r>
                        <a:rPr b="0" sz="975" i="1" u="none">
                          <a:solidFill>
                            <a:srgbClr val="1E293B"/>
                          </a:solidFill>
                          <a:latin typeface="Inter"/>
                        </a:rPr>
                        <a:t>(Not an AI model)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04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1E293B"/>
                          </a:solidFill>
                          <a:latin typeface="Inter"/>
                        </a:rPr>
                        <a:t>React Calendar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Calendar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1E293B"/>
                          </a:solidFill>
                          <a:latin typeface="Inter"/>
                        </a:rPr>
                        <a:t>Renders scheduled commitments and task deadlines on an interactive calendar.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58525" y="6372225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7 of 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9100"/>
            <a:ext cx="2476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371475"/>
            <a:ext cx="39338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AI Tools &amp; Technology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775" y="1419225"/>
            <a:ext cx="280511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0887" y="1419225"/>
            <a:ext cx="280511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0" y="1419225"/>
            <a:ext cx="56102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5775" y="18764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0887" y="18764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0" y="1876425"/>
            <a:ext cx="5610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775" y="23336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0887" y="23336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2333625"/>
            <a:ext cx="5610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775" y="27908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0887" y="27908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0" y="2790825"/>
            <a:ext cx="5610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5775" y="32480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0887" y="32480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0" y="3248025"/>
            <a:ext cx="5610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5775" y="37052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0887" y="3705225"/>
            <a:ext cx="2805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3705225"/>
            <a:ext cx="5610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4471987"/>
            <a:ext cx="22860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4471987"/>
            <a:ext cx="257175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2975" y="4448175"/>
            <a:ext cx="2200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21A8"/>
                </a:solidFill>
                <a:latin typeface="Inter ExtraBold"/>
              </a:rPr>
              <a:t>AI / LLM 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75" y="4591050"/>
            <a:ext cx="2200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7E22CE"/>
                </a:solidFill>
                <a:latin typeface="Inter"/>
              </a:rPr>
              <a:t>Ollama + Qwen2.5:3b + Python Agent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0" y="4448175"/>
            <a:ext cx="2409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65F46"/>
                </a:solidFill>
                <a:latin typeface="Inter ExtraBold"/>
              </a:rPr>
              <a:t>APPLICATION COMPONENTS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0" y="4591050"/>
            <a:ext cx="24098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47857"/>
                </a:solidFill>
                <a:latin typeface="Inter"/>
              </a:rPr>
              <a:t>FastAPI REST Backend + React/Vite Frontend UI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3287" y="1543050"/>
            <a:ext cx="1228725" cy="2190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3287" y="2000250"/>
            <a:ext cx="1104900" cy="2190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3287" y="2457450"/>
            <a:ext cx="1085850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3287" y="2914650"/>
            <a:ext cx="1228725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3287" y="3371850"/>
            <a:ext cx="819150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3287" y="3829050"/>
            <a:ext cx="8286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11239500" cy="521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628775"/>
            <a:ext cx="210681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235" y="1628775"/>
            <a:ext cx="2106959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445" y="1628775"/>
            <a:ext cx="2106959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655" y="1628775"/>
            <a:ext cx="2106959" cy="552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865" y="1628775"/>
            <a:ext cx="2106810" cy="552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375" y="2295525"/>
            <a:ext cx="3600450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505075"/>
            <a:ext cx="7200900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3009900"/>
            <a:ext cx="7200900" cy="4286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" y="3514725"/>
            <a:ext cx="7200900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6372225"/>
            <a:ext cx="3162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 — Evaluated on Sample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0" y="637222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8 of 10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419100"/>
            <a:ext cx="2762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6775" y="371475"/>
            <a:ext cx="59721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Working Prototype — Executive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" y="1204912"/>
            <a:ext cx="4048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 ExtraBold"/>
              </a:rPr>
              <a:t>Executive Productivity Dashboard</a:t>
            </a:r>
            <a:r>
              <a:rPr b="0" sz="12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— Good Morning, Arjun Malhotra!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24950" y="1190625"/>
            <a:ext cx="1095375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77475" y="1190625"/>
            <a:ext cx="94297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77600" y="1190625"/>
            <a:ext cx="276225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1733550"/>
            <a:ext cx="1897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B82F6"/>
                </a:solidFill>
                <a:latin typeface="Inter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1962150"/>
            <a:ext cx="18972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MY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5010" y="1733550"/>
            <a:ext cx="189740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F4444"/>
                </a:solidFill>
                <a:latin typeface="Inter ExtraBold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5010" y="1962150"/>
            <a:ext cx="189740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OVERDUE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7220" y="1733550"/>
            <a:ext cx="189740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59E0B"/>
                </a:solidFill>
                <a:latin typeface="Inter ExtraBold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7220" y="1962150"/>
            <a:ext cx="189740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WAITING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9430" y="1733550"/>
            <a:ext cx="189740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8B5CF6"/>
                </a:solidFill>
                <a:latin typeface="Inter Extra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9430" y="1962150"/>
            <a:ext cx="189740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UNCLEAR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640" y="1733550"/>
            <a:ext cx="1897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Inter ExtraBold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1640" y="1962150"/>
            <a:ext cx="189726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" y="2295525"/>
            <a:ext cx="7200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ExtraBold"/>
              </a:rPr>
              <a:t>MY ACTIONS &amp; ATTENTION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8625" y="5886450"/>
            <a:ext cx="340995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75" i="1" u="none">
                <a:solidFill>
                  <a:srgbClr val="94A3B8"/>
                </a:solidFill>
                <a:latin typeface="Inter"/>
              </a:rPr>
              <a:t> Prototype interface rendered from project sample data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20200" y="1243012"/>
            <a:ext cx="114300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72725" y="1243012"/>
            <a:ext cx="114300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72850" y="1243012"/>
            <a:ext cx="85725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3725" y="2624137"/>
            <a:ext cx="771525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3128962"/>
            <a:ext cx="108585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24700" y="3633787"/>
            <a:ext cx="590550" cy="1905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048625" y="2390775"/>
            <a:ext cx="3409950" cy="133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Inter ExtraBold"/>
              </a:rPr>
              <a:t>SEPTEMBER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8625" y="2581275"/>
            <a:ext cx="3409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b="0" sz="750" i="0" u="none">
                <a:solidFill>
                  <a:srgbClr val="64748B"/>
                </a:solidFill>
                <a:latin typeface="Inter"/>
              </a:rPr>
              <a:t>• Sep 23: Send Vendor List</a:t>
            </a:r>
            <a:r>
              <a:t>
</a:t>
            </a:r>
            <a:r>
              <a:rPr b="0" sz="750" i="0" u="none">
                <a:solidFill>
                  <a:srgbClr val="64748B"/>
                </a:solidFill>
                <a:latin typeface="Inter"/>
              </a:rPr>
              <a:t> • Sep 25: Deliver Q3 Deck</a:t>
            </a:r>
            <a:r>
              <a:t>
</a:t>
            </a:r>
            <a:r>
              <a:rPr b="0" sz="750" i="0" u="none">
                <a:solidFill>
                  <a:srgbClr val="64748B"/>
                </a:solidFill>
                <a:latin typeface="Inter"/>
              </a:rPr>
              <a:t> • Sep 30: Expense Variance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2590800"/>
            <a:ext cx="2000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Send updated vendor list to Raghav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" y="2733675"/>
            <a:ext cx="20002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Inter"/>
              </a:rPr>
              <a:t>Source: email_thread_04 • Deadline: Sep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3095625"/>
            <a:ext cx="2676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F1239"/>
                </a:solidFill>
                <a:latin typeface="Inter"/>
              </a:rPr>
              <a:t>Confirm Mumbai office lease renewal ownership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3238500"/>
            <a:ext cx="26765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F1239"/>
                </a:solidFill>
                <a:latin typeface="Inter"/>
              </a:rPr>
              <a:t>Source: meeting_notes_02 • Needs clarification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000" y="3600450"/>
            <a:ext cx="1914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F1239"/>
                </a:solidFill>
                <a:latin typeface="Inter"/>
              </a:rPr>
              <a:t>Reschedule Meridian Logistics 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000" y="3743325"/>
            <a:ext cx="19145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9F1239"/>
                </a:solidFill>
                <a:latin typeface="Inter"/>
              </a:rPr>
              <a:t>Source: voice_note_01 • Overdue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8625" y="2409825"/>
            <a:ext cx="95250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8700"/>
            <a:ext cx="5505450" cy="521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028700"/>
            <a:ext cx="5505450" cy="5219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5762625"/>
            <a:ext cx="510540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262062"/>
            <a:ext cx="220980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595437"/>
            <a:ext cx="5105400" cy="1847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262062"/>
            <a:ext cx="22669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4300" y="1719262"/>
            <a:ext cx="173355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100262"/>
            <a:ext cx="4129087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2633662"/>
            <a:ext cx="120015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014662"/>
            <a:ext cx="352425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1595437"/>
            <a:ext cx="510540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2166937"/>
            <a:ext cx="5105400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0325" y="2738437"/>
            <a:ext cx="510540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0325" y="3309937"/>
            <a:ext cx="510540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68050" y="423862"/>
            <a:ext cx="647700" cy="238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6372225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Executive Productivity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37222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9 of 10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250" y="419100"/>
            <a:ext cx="314325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4875" y="371475"/>
            <a:ext cx="5905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Ask Agent — Natural Language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5915025"/>
            <a:ext cx="51054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1" u="none">
                <a:solidFill>
                  <a:srgbClr val="64748B"/>
                </a:solidFill>
                <a:latin typeface="Inter"/>
              </a:rPr>
              <a:t> Query endpoint: </a:t>
            </a:r>
            <a:r>
              <a:rPr b="0" sz="825" i="1" u="none">
                <a:solidFill>
                  <a:srgbClr val="7E22CE"/>
                </a:solidFill>
                <a:latin typeface="Inter"/>
              </a:rPr>
              <a:t>POST /ask</a:t>
            </a:r>
            <a:r>
              <a:rPr b="0" sz="825" i="1" u="none">
                <a:solidFill>
                  <a:srgbClr val="64748B"/>
                </a:solidFill>
                <a:latin typeface="Inter"/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1525" y="1314450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05575" y="1314450"/>
            <a:ext cx="142875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" y="2205037"/>
            <a:ext cx="133350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" y="3119437"/>
            <a:ext cx="133350" cy="1047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24925" y="1976437"/>
            <a:ext cx="76200" cy="1047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24925" y="2547937"/>
            <a:ext cx="76200" cy="1047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24925" y="3119437"/>
            <a:ext cx="76200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495925"/>
            <a:ext cx="11239500" cy="752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028700"/>
            <a:ext cx="3644800" cy="1433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450" y="1028700"/>
            <a:ext cx="3644949" cy="14335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00" y="1028700"/>
            <a:ext cx="3644800" cy="14335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0825" y="5695950"/>
            <a:ext cx="1114425" cy="352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262062"/>
            <a:ext cx="10572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2005012"/>
            <a:ext cx="32447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3475" y="1262062"/>
            <a:ext cx="10953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3475" y="2005012"/>
            <a:ext cx="3244899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0825" y="1262062"/>
            <a:ext cx="12096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6248400"/>
            <a:ext cx="112395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6625" y="423862"/>
            <a:ext cx="619125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6372225"/>
            <a:ext cx="3305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Academic Project Evaluation — Executive Productivity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1375" y="6372225"/>
            <a:ext cx="714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Slide 10 of 10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419100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8200" y="371475"/>
            <a:ext cx="4114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250" i="0" u="none">
                <a:solidFill>
                  <a:srgbClr val="0F172A"/>
                </a:solidFill>
                <a:latin typeface="Inter ExtraBold"/>
              </a:rPr>
              <a:t>Demo, GitHub &amp; 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1576387"/>
            <a:ext cx="3244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Video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1776412"/>
            <a:ext cx="32447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2–3 minute walkthrough of working prototype.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3475" y="1576387"/>
            <a:ext cx="324489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Source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3475" y="1776412"/>
            <a:ext cx="32448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Complete repository &amp; setup instructions.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686425"/>
            <a:ext cx="7181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5B4FC"/>
                </a:solidFill>
                <a:latin typeface="Inter ExtraBold"/>
              </a:rPr>
              <a:t>EXECUTIVE PRODUCTIVITY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5867400"/>
            <a:ext cx="7181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From scattered communication → structured commitments → actionable executive intelligence.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1314450"/>
            <a:ext cx="85725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8725" y="1314450"/>
            <a:ext cx="11430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6075" y="1314450"/>
            <a:ext cx="8572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0825" y="1576387"/>
            <a:ext cx="3244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4155"/>
                </a:solidFill>
                <a:latin typeface="Inter"/>
              </a:rPr>
              <a:t>• Real Gmail / Outlook API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0825" y="1728787"/>
            <a:ext cx="3244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4155"/>
                </a:solidFill>
                <a:latin typeface="Inter"/>
              </a:rPr>
              <a:t>• Automated Voice-to-Text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0825" y="1881187"/>
            <a:ext cx="3244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4155"/>
                </a:solidFill>
                <a:latin typeface="Inter"/>
              </a:rPr>
              <a:t>• Multi-user support &amp;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0825" y="2033587"/>
            <a:ext cx="32447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334155"/>
                </a:solidFill>
                <a:latin typeface="Inter"/>
              </a:rPr>
              <a:t>• Executive analytics &amp; mobile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